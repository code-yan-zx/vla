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1e6f09e0224022" /><Relationship Type="http://schemas.openxmlformats.org/officeDocument/2006/relationships/extended-properties" Target="/docProps/app.xml" Id="Rca7a96ed8a5641f8" /><Relationship Type="http://schemas.openxmlformats.org/officeDocument/2006/relationships/officeDocument" Target="/ppt/presentation.xml" Id="R17d1b07780ab42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d25f2de25f4ae9"/>
  </p:sldMasterIdLst>
  <p:notesMasterIdLst>
    <p:notesMasterId xmlns:r="http://schemas.openxmlformats.org/officeDocument/2006/relationships" r:id="Rb4af328a9c9b4f76"/>
  </p:notesMasterIdLst>
  <p:sldIdLst>
    <p:sldId xmlns:r="http://schemas.openxmlformats.org/officeDocument/2006/relationships" id="256" r:id="R681b4f15f28e45e8"/>
    <p:sldId xmlns:r="http://schemas.openxmlformats.org/officeDocument/2006/relationships" id="257" r:id="Rc3694ad286eb4bab"/>
    <p:sldId xmlns:r="http://schemas.openxmlformats.org/officeDocument/2006/relationships" id="258" r:id="Rdafefedf3f8f4230"/>
    <p:sldId xmlns:r="http://schemas.openxmlformats.org/officeDocument/2006/relationships" id="259" r:id="Rc061913636964141"/>
    <p:sldId xmlns:r="http://schemas.openxmlformats.org/officeDocument/2006/relationships" id="260" r:id="Rf91e4e539e644270"/>
    <p:sldId xmlns:r="http://schemas.openxmlformats.org/officeDocument/2006/relationships" id="261" r:id="R317a4f311eac4c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a518789124d9e" /><Relationship Type="http://schemas.openxmlformats.org/officeDocument/2006/relationships/slideMaster" Target="/ppt/slideMasters/slideMaster1.xml" Id="Rbdd25f2de25f4ae9" /><Relationship Type="http://schemas.openxmlformats.org/officeDocument/2006/relationships/notesMaster" Target="/ppt/notesMasters/notesMaster1.xml" Id="Rb4af328a9c9b4f76" /><Relationship Type="http://schemas.openxmlformats.org/officeDocument/2006/relationships/presProps" Target="/ppt/presProps.xml" Id="R206b73a090304318" /><Relationship Type="http://schemas.openxmlformats.org/officeDocument/2006/relationships/tableStyles" Target="/ppt/tableStyles.xml" Id="Rb027ce6d231c4c02" /><Relationship Type="http://schemas.openxmlformats.org/officeDocument/2006/relationships/slide" Target="/ppt/slides/slide1.xml" Id="R681b4f15f28e45e8" /><Relationship Type="http://schemas.openxmlformats.org/officeDocument/2006/relationships/slide" Target="/ppt/slides/slide2.xml" Id="Rc3694ad286eb4bab" /><Relationship Type="http://schemas.openxmlformats.org/officeDocument/2006/relationships/slide" Target="/ppt/slides/slide3.xml" Id="Rdafefedf3f8f4230" /><Relationship Type="http://schemas.openxmlformats.org/officeDocument/2006/relationships/slide" Target="/ppt/slides/slide4.xml" Id="Rc061913636964141" /><Relationship Type="http://schemas.openxmlformats.org/officeDocument/2006/relationships/slide" Target="/ppt/slides/slide5.xml" Id="Rf91e4e539e644270" /><Relationship Type="http://schemas.openxmlformats.org/officeDocument/2006/relationships/slide" Target="/ppt/slides/slide6.xml" Id="R317a4f311eac4c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5b3dff4d5d4f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6d1237703e40cf" /><Relationship Type="http://schemas.openxmlformats.org/officeDocument/2006/relationships/notesMaster" Target="/ppt/notesMasters/notesMaster1.xml" Id="R9dad50ecfcb640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f0c34e758b431a" /><Relationship Type="http://schemas.openxmlformats.org/officeDocument/2006/relationships/notesMaster" Target="/ppt/notesMasters/notesMaster1.xml" Id="R8fdd5d1f21b04a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37da5978174061" /><Relationship Type="http://schemas.openxmlformats.org/officeDocument/2006/relationships/notesMaster" Target="/ppt/notesMasters/notesMaster1.xml" Id="Ra2d5b243ba5245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7a284f457a4cd7" /><Relationship Type="http://schemas.openxmlformats.org/officeDocument/2006/relationships/notesMaster" Target="/ppt/notesMasters/notesMaster1.xml" Id="R567388f85b0848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74a11a006344f2" /><Relationship Type="http://schemas.openxmlformats.org/officeDocument/2006/relationships/notesMaster" Target="/ppt/notesMasters/notesMaster1.xml" Id="R9d0432ab9d4e4e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b1979067914733" /><Relationship Type="http://schemas.openxmlformats.org/officeDocument/2006/relationships/notesMaster" Target="/ppt/notesMasters/notesMaster1.xml" Id="R258a0b8b64764a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drafts/overleaf_submission/main.tex, Figure 1 and abstract. Image reused from drafts/overleaf_submission/figs/fig1.png.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drafts/overleaf_submission/main.tex, Sections 1 and 3. The pipeline is a simplified editable summary of the paper's controlled pre/post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drafts/overleaf_submission/main.tex, Section 3 and Algorithm 1. Formula and scope language follow the current manuscript.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drafts/overleaf_submission/main.tex, Table 1 and Figure 2. Headline numbers are Qwen3-VL full-split values at 25% retention. GQA is intentionally described as a boundary case because the current manuscript scopes the text-dense claim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drafts/overleaf_submission/main.tex, Section 6 and Figure 3. The figure reports Qwen3-VL mechanism diagnostics and the ranking-swap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drafts/overleaf_submission/main.tex, Sections 7 and 8, plus retention_curves.png from the paper figures. Scope and comparison language follows the manuscript's discussion and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8d25e9d3e47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9940431cfa4678" /><Relationship Type="http://schemas.openxmlformats.org/officeDocument/2006/relationships/slideLayout" Target="/ppt/slideLayouts/slideLayout1.xml" Id="R52b97d4279584e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b97d4279584e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07e02c84e45ac" /><Relationship Type="http://schemas.openxmlformats.org/officeDocument/2006/relationships/image" Target="/ppt/media/image.png" Id="R307b704edaa04eb7" /><Relationship Type="http://schemas.openxmlformats.org/officeDocument/2006/relationships/notesSlide" Target="/ppt/notesSlides/notesSlide1.xml" Id="R9ce2a2b3a1bb4a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b617a38a24cfa" /><Relationship Type="http://schemas.openxmlformats.org/officeDocument/2006/relationships/notesSlide" Target="/ppt/notesSlides/notesSlide2.xml" Id="Rb1d26365652348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62542ad744de5" /><Relationship Type="http://schemas.openxmlformats.org/officeDocument/2006/relationships/notesSlide" Target="/ppt/notesSlides/notesSlide3.xml" Id="Rda164bd70f4142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f81d76a844c1e" /><Relationship Type="http://schemas.openxmlformats.org/officeDocument/2006/relationships/image" Target="/ppt/media/image2.png" Id="R9e2161002ed8445f" /><Relationship Type="http://schemas.openxmlformats.org/officeDocument/2006/relationships/notesSlide" Target="/ppt/notesSlides/notesSlide4.xml" Id="R644e0933ee174c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c3fab71dc45ed" /><Relationship Type="http://schemas.openxmlformats.org/officeDocument/2006/relationships/image" Target="/ppt/media/image3.png" Id="Re50f7ee49e764295" /><Relationship Type="http://schemas.openxmlformats.org/officeDocument/2006/relationships/notesSlide" Target="/ppt/notesSlides/notesSlide5.xml" Id="R96b7e22bb4a54a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1fff4175f4759" /><Relationship Type="http://schemas.openxmlformats.org/officeDocument/2006/relationships/image" Target="/ppt/media/image4.png" Id="R7e6b25d263504fcc" /><Relationship Type="http://schemas.openxmlformats.org/officeDocument/2006/relationships/notesSlide" Target="/ppt/notesSlides/notesSlide6.xml" Id="Rc778a3bf27bf44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B78A3-88C4-4F69-B313-4EB7E6E4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DA85B-64DA-4CC6-80ED-C814E6BD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Rank Before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You Merge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EC70D-F773-41A8-B588-33823C8F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DE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DE6E8"/>
                </a:solidFill>
                <a:latin typeface="Microsoft YaHei"/>
                <a:ea typeface="Microsoft YaHei"/>
                <a:cs typeface="Microsoft YaHei"/>
              </a:rPr>
              <a:t>训练免训练视觉 Token 压缩中的选择阶段效应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33797-6BD4-4F5F-8229-82D928F7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EB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EBCC1"/>
                </a:solidFill>
                <a:latin typeface="Microsoft YaHei"/>
                <a:ea typeface="Microsoft YaHei"/>
                <a:cs typeface="Microsoft YaHei"/>
              </a:rPr>
              <a:t>基于 Qwen3-VL、Qwen2.5-VL 与 InternVL3 的论文概览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62EF2-7DB9-4C07-B2B3-869B6AD4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6A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DC08C-BD30-43D7-ADAE-8E8FB086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DE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DE6E8"/>
                </a:solidFill>
                <a:latin typeface="Microsoft YaHei"/>
                <a:ea typeface="Microsoft YaHei"/>
                <a:cs typeface="Microsoft YaHei"/>
              </a:rPr>
              <a:t>Zhengxing Yan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b704edaa04eb7"/>
          <a:stretch xmlns:a="http://schemas.openxmlformats.org/drawingml/2006/main"/>
        </p:blipFill>
        <p:spPr>
          <a:xfrm xmlns:a="http://schemas.openxmlformats.org/drawingml/2006/main">
            <a:off x="5715000" y="1323318"/>
            <a:ext cx="5905500" cy="41542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13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4793D-F63B-4EF5-9DF6-2A7F1DBB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rPr>
              <a:t>研究问题：选择发生在合并之前，还是之后？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60175-1305-45A4-B2D0-3B254FB7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视觉 token 压缩通常只讨论“保留哪些 token”。这篇论文把变量收窄为一个可控的 stage axis。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83E3C-217A-45B7-ACAC-9D2B34D2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81A98-2FCA-42CF-8ACE-1B051FBB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rPr>
              <a:t>同一张图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ECE05-4D7F-4209-8384-AA832033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rPr>
              <a:t>ViT patch tokens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BA5B6-0553-4186-B2A6-93BFE2BA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76450"/>
            <a:ext cx="1619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6E9E1"/>
          </a:solidFill>
          <a:ln xmlns:a="http://schemas.openxmlformats.org/drawingml/2006/main" w="19050">
            <a:solidFill>
              <a:srgbClr val="C96A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AA9F4-37D0-4BF0-BC3A-912724DD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098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2×2 native</a:t>
            </a:r>
          </a:p>
          <a:p xmlns:a="http://schemas.openxmlformats.org/drawingml/2006/main">
            <a:pPr>
              <a:defRPr sz="135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merger units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6B1B2-B18B-4EF0-91C9-06E88963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717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844F2-926A-44F7-BD25-264DE436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1809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7EEF8"/>
          </a:solidFill>
          <a:ln xmlns:a="http://schemas.openxmlformats.org/drawingml/2006/main" w="19050">
            <a:solidFill>
              <a:srgbClr val="3274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62C9D-47C7-4F62-80F7-6BC07D1A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098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rPr>
              <a:t>keep κN</a:t>
            </a:r>
          </a:p>
          <a:p xmlns:a="http://schemas.openxmlformats.org/drawingml/2006/main">
            <a:pPr>
              <a:defRPr sz="135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rPr>
              <a:t>visual units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A9FE1-7E4E-4239-913D-7403D729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717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EBAE3-95D3-4E0F-99F7-9EB32F72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2000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B303B"/>
          </a:solidFill>
          <a:ln xmlns:a="http://schemas.openxmlformats.org/drawingml/2006/main" w="0">
            <a:solidFill>
              <a:srgbClr val="1B30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C221F-31A4-4505-A08A-A585FB2C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language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D38D1-3D54-45B8-AECB-CE23B46B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90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Pre-merger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B88A6-8076-44DC-B451-B3BF846C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24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rPr>
              <a:t>在 native merger 看到的原始 patch 特征上打分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E95DA-B08E-4075-B95F-1D05DCBC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rPr>
              <a:t>Post-merger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9387D-0E10-420C-A52F-88B4A9AB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24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rPr>
              <a:t>先经过有损的 2×2 合并，再对 merged units 打分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4E700-DB33-42B6-B9F4-EB90FB71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477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A0A31-2892-48ED-870D-257B0494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控制变量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2B408-4F57-4D7B-B482-782B28A5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rPr>
              <a:t>同一模型  ·  同一 query-blind L2 规则  ·  同一保留率  ·  同一最终 token budget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DF965-888D-41BD-9B9E-C17A8224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00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因此，主要差异来自：合并是否先改写了 saliency ranking。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B552A-3199-4A6F-ACB5-89E5FC55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RANK BEFORE YOU MERGE  |  02</a:t>
            </a:r>
          </a:p>
        </p:txBody>
      </p:sp>
    </p:spTree>
    <p:extLst>
      <p:ext uri="{BB962C8B-B14F-4D97-AF65-F5344CB8AC3E}">
        <p14:creationId xmlns:p14="http://schemas.microsoft.com/office/powerpoint/2010/main" val="732667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058927-0D90-4D88-88C9-0AD54A3F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RBM：先排名，再合并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45A78-B7CD-42AC-AE52-1E3C3B91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rPr>
              <a:t>Rank-Before-Merge 只改变保留 unit 的时机，不新增 scorer、训练参数或 query 输入。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15EBE-0399-49FA-B629-C4E10F21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C566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53479-51F7-4870-BEE4-174B0E17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DC1C8-334C-4F0B-A075-BF0D023C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构造 native units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FA247-11CD-4FAB-86C4-2BDB59EE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145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rPr>
              <a:t>每个 2×2 unit 包含 4 个 merger-input patch vectors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4FA3D-C990-4DC1-A331-1034B4DC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33675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C56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00733-9EF5-4FF6-8A82-69C0FFCF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2C113-1B1F-49DC-BE5B-2C4246B7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622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 pre-score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73AA5-09D2-4957-B22A-ABDBD6C0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rPr>
              <a:t>s_pre(u) = 1/4 Σ ||hᵤⱼ||₂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F8C2A-71E1-413F-AC62-FC7B0DE1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43325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C56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C2671-A115-4B40-8368-7821E0C2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909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751CD-6C3E-4FCB-B144-AF8F0E44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71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Top-k 保留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D4285-2939-4131-BD01-76446632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338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rPr>
              <a:t>k = round(κN)，论文主结果 κ = 25%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BA667-3ED3-4878-A2B1-EE78056B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52975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C56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77D94-CD74-4725-BE12-C2B16282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8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B8D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DAA58-9B26-41F8-AD5D-0C8115AC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815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调用原生 merger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C23AD-40D0-4A85-9F30-FBCF6732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435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rPr>
              <a:t>只让 survivors 进入 unmodified native merger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C3462-4BBD-4B8C-B769-3AD12E55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62625"/>
            <a:ext cx="847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C566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48CB2-5392-4F09-8845-F83B371E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76450"/>
            <a:ext cx="2571750" cy="2495550"/>
          </a:xfrm>
          <a:prstGeom xmlns:a="http://schemas.openxmlformats.org/drawingml/2006/main" prst="roundRect">
            <a:avLst>
              <a:gd name="adj" fmla="val 6870"/>
            </a:avLst>
          </a:prstGeom>
          <a:solidFill xmlns:a="http://schemas.openxmlformats.org/drawingml/2006/main">
            <a:srgbClr val="1B303B"/>
          </a:solidFill>
          <a:ln xmlns:a="http://schemas.openxmlformats.org/drawingml/2006/main" w="9525">
            <a:solidFill>
              <a:srgbClr val="55707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F6268-331F-409F-B105-C7B08FF1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43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结构不变量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221AA-0CB0-461C-8602-7F537358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57500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mask 在 unit 粒度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 kept set 时，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相同的 4 个 patch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仍进入相同的 per-unit merger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97449-ED3F-4912-A52B-19A7DE27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672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rPr>
              <a:t>Qwen3-VL 路径：</a:t>
            </a:r>
          </a:p>
          <a:p xmlns:a="http://schemas.openxmlformats.org/drawingml/2006/main">
            <a:pPr>
              <a:defRPr sz="10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5D2D6"/>
                </a:solidFill>
                <a:latin typeface="Microsoft YaHei"/>
                <a:ea typeface="Microsoft YaHei"/>
                <a:cs typeface="Microsoft YaHei"/>
              </a:rPr>
              <a:t>kept unit 的输出可做到 byte-identical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B7E70B-22BF-450A-8D4F-AF723515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RANK BEFORE YOU MERGE  |  03</a:t>
            </a:r>
          </a:p>
        </p:txBody>
      </p:sp>
    </p:spTree>
    <p:extLst>
      <p:ext uri="{BB962C8B-B14F-4D97-AF65-F5344CB8AC3E}">
        <p14:creationId xmlns:p14="http://schemas.microsoft.com/office/powerpoint/2010/main" val="30406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0BC1C-DCF5-4E4E-B7FE-1E005442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rPr>
              <a:t>主结果：文本密集任务上，pre-merger 优势稳定出现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77171-DD12-44C0-B6A6-7A89A247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25% retention · iso-model · iso-budget · paired full-split comparison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161002ed8445f"/>
          <a:stretch xmlns:a="http://schemas.openxmlformats.org/drawingml/2006/main"/>
        </p:blipFill>
        <p:spPr>
          <a:xfrm xmlns:a="http://schemas.openxmlformats.org/drawingml/2006/main">
            <a:off x="460036" y="1200150"/>
            <a:ext cx="11271927" cy="432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FEF5B-A7D1-40EE-A51E-EB07F57F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Qwen3-VL @25%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FD088-A7D6-43D6-8113-69E13D88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388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+38.4 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2B67F-CBA7-4E1E-B18B-9AF364AB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7150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rPr>
              <a:t>TextVQA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C69AA-688B-4A6D-8B25-9E1B2AAC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6388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+24.3 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5F3C8-0324-4FFA-8F9C-14C13F68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150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rPr>
              <a:t>DocVQA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80B08-2BDE-4CD1-A41B-C31213BD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38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+363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382AB-ED7B-4B2E-9E6E-4E2D14B9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715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rPr>
              <a:t>OCRBench 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9D2D3-C94C-45F4-A4B6-77BFE077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GQA 是边界案例：它不构成本文的 headline stage-law claim。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8D742-92C8-4890-9317-410808DB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RANK BEFORE YOU MERGE  |  04</a:t>
            </a:r>
          </a:p>
        </p:txBody>
      </p:sp>
    </p:spTree>
    <p:extLst>
      <p:ext uri="{BB962C8B-B14F-4D97-AF65-F5344CB8AC3E}">
        <p14:creationId xmlns:p14="http://schemas.microsoft.com/office/powerpoint/2010/main" val="1187632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0956A-4107-4493-8B8D-1F930C9F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rPr>
              <a:t>机制：native merger 会重排 saliency，且更容易压低文字笔画单元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B4765-54A6-4B87-983B-7D7C5C6F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86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M1 rank reshuffle  ·  M2 edge-rich units demoted  ·  M3 ranking-swap control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f7ee49e764295"/>
          <a:stretch xmlns:a="http://schemas.openxmlformats.org/drawingml/2006/main"/>
        </p:blipFill>
        <p:spPr>
          <a:xfrm xmlns:a="http://schemas.openxmlformats.org/drawingml/2006/main">
            <a:off x="400050" y="1207014"/>
            <a:ext cx="11391900" cy="512977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ABB6F-174A-41DF-914E-411E61BB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RANK BEFORE YOU MERGE  |  05</a:t>
            </a:r>
          </a:p>
        </p:txBody>
      </p:sp>
    </p:spTree>
    <p:extLst>
      <p:ext uri="{BB962C8B-B14F-4D97-AF65-F5344CB8AC3E}">
        <p14:creationId xmlns:p14="http://schemas.microsoft.com/office/powerpoint/2010/main" val="972848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C948C-9ECC-4E88-90A7-31FDABD8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rPr>
              <a:t>结论：RBM 是 OCR-oriented default，不是 universal winner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925A8-88BA-4BC6-9C55-2938EE9D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压缩越深，pre/post 的差距通常越明显；但不同 workload 需要不同的选择策略。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b25d263504fcc"/>
          <a:stretch xmlns:a="http://schemas.openxmlformats.org/drawingml/2006/main"/>
        </p:blipFill>
        <p:spPr>
          <a:xfrm xmlns:a="http://schemas.openxmlformats.org/drawingml/2006/main">
            <a:off x="498690" y="1581150"/>
            <a:ext cx="6755970" cy="2724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F39F1-0614-4579-8556-F6017A4C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750">
            <a:solidFill>
              <a:srgbClr val="D7E0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00DFD-6E5D-44B7-B585-40AAA79D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85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论文给出的定位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96646-74A7-4C9A-9FBD-BD4963DF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4312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rPr>
              <a:t>RBM</a:t>
            </a:r>
          </a:p>
          <a:p xmlns:a="http://schemas.openxmlformats.org/drawingml/2006/main">
            <a:pPr>
              <a:defRPr sz="150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12B"/>
                </a:solidFill>
                <a:latin typeface="Microsoft YaHei"/>
                <a:ea typeface="Microsoft YaHei"/>
                <a:cs typeface="Microsoft YaHei"/>
              </a:rPr>
              <a:t>训练免训练，且不引入 stage-specific serving cost。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41A3E-D216-444F-8B85-FB50B5E6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rPr>
              <a:t>FastV</a:t>
            </a:r>
          </a:p>
          <a:p xmlns:a="http://schemas.openxmlformats.org/drawingml/2006/main">
            <a:pPr>
              <a:defRPr sz="135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274D9"/>
                </a:solidFill>
                <a:latin typeface="Microsoft YaHei"/>
                <a:ea typeface="Microsoft YaHei"/>
                <a:cs typeface="Microsoft YaHei"/>
              </a:rPr>
              <a:t>query-conditioned，在部分 reference-grounded / object-centric 设置上更强。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15A08-F0CC-427C-8463-39FB9415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95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  <a:p xmlns:a="http://schemas.openxmlformats.org/drawingml/2006/main">
            <a:pPr>
              <a:defRPr sz="1200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A30"/>
                </a:solidFill>
                <a:latin typeface="Microsoft YaHei"/>
                <a:ea typeface="Microsoft YaHei"/>
                <a:cs typeface="Microsoft YaHei"/>
              </a:rPr>
              <a:t>机制的 byte-exact attribution 主要建立在 Qwen3-VL；无 native merger 的架构不在范围内。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B81CC-3887-46C7-AD10-8D4267AD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10810875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2212B"/>
          </a:solidFill>
          <a:ln xmlns:a="http://schemas.openxmlformats.org/drawingml/2006/main" w="0">
            <a:solidFill>
              <a:srgbClr val="12212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EF7F0-35D3-4C38-80C8-7EC738C8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6A3A"/>
                </a:solidFill>
                <a:latin typeface="Microsoft YaHei"/>
                <a:ea typeface="Microsoft YaHei"/>
                <a:cs typeface="Microsoft YaHei"/>
              </a:rPr>
              <a:t>一句话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47D0C-62F3-48CD-90EB-513A3786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852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 merger-equipped VLM 中，先保留哪些 unit，再让 native merger 处理，往往比合并后再选更能保住文本证据。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B61E7-FCDB-4A47-B0FF-6634A540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8777D"/>
                </a:solidFill>
                <a:latin typeface="Microsoft YaHei"/>
                <a:ea typeface="Microsoft YaHei"/>
                <a:cs typeface="Microsoft YaHei"/>
              </a:rPr>
              <a:t>RANK BEFORE YOU MERGE  |  06</a:t>
            </a:r>
          </a:p>
        </p:txBody>
      </p:sp>
    </p:spTree>
    <p:extLst>
      <p:ext uri="{BB962C8B-B14F-4D97-AF65-F5344CB8AC3E}">
        <p14:creationId xmlns:p14="http://schemas.microsoft.com/office/powerpoint/2010/main" val="1473070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2026-09-04T03:29:41.1910000Z</dcterms:created>
  <dcterms:modified xsi:type="dcterms:W3CDTF">2026-09-04T03:29:41.1910000Z</dcterms:modified>
</coreProperties>
</file>